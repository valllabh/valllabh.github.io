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975360" y="2194560"/>
            <a:ext cx="10241280" cy="1371600"/>
          </a:xfrm>
          <a:prstGeom prst="rect">
            <a:avLst/>
          </a:prstGeom>
          <a:noFill/>
        </p:spPr>
        <p:txBody>
          <a:bodyPr wrap="square">
            <a:spAutoFit/>
          </a:bodyPr>
          <a:lstStyle/>
          <a:p>
            <a:r>
              <a:rPr sz="5400" b="0">
                <a:solidFill>
                  <a:srgbClr val="FFFFFF"/>
                </a:solidFill>
                <a:latin typeface="Lato Thin"/>
              </a:rPr>
              <a:t>Rebuilding the Field Ops Platform</a:t>
            </a:r>
          </a:p>
        </p:txBody>
      </p:sp>
      <p:sp>
        <p:nvSpPr>
          <p:cNvPr id="3" name="TextBox 2"/>
          <p:cNvSpPr txBox="1"/>
          <p:nvPr/>
        </p:nvSpPr>
        <p:spPr>
          <a:xfrm>
            <a:off x="975360" y="3771900"/>
            <a:ext cx="10241280" cy="548640"/>
          </a:xfrm>
          <a:prstGeom prst="rect">
            <a:avLst/>
          </a:prstGeom>
          <a:noFill/>
        </p:spPr>
        <p:txBody>
          <a:bodyPr wrap="square">
            <a:spAutoFit/>
          </a:bodyPr>
          <a:lstStyle/>
          <a:p>
            <a:r>
              <a:rPr sz="2400" b="0">
                <a:solidFill>
                  <a:srgbClr val="8AA0B8"/>
                </a:solidFill>
                <a:latin typeface="Carlito"/>
              </a:rPr>
              <a:t>Annual partner summit, Hall B</a:t>
            </a:r>
          </a:p>
        </p:txBody>
      </p:sp>
      <p:sp>
        <p:nvSpPr>
          <p:cNvPr id="4" name="TextBox 3"/>
          <p:cNvSpPr txBox="1"/>
          <p:nvPr/>
        </p:nvSpPr>
        <p:spPr>
          <a:xfrm>
            <a:off x="975360" y="6240780"/>
            <a:ext cx="7315200" cy="342900"/>
          </a:xfrm>
          <a:prstGeom prst="rect">
            <a:avLst/>
          </a:prstGeom>
          <a:noFill/>
        </p:spPr>
        <p:txBody>
          <a:bodyPr wrap="square">
            <a:spAutoFit/>
          </a:bodyPr>
          <a:lstStyle/>
          <a:p>
            <a:r>
              <a:rPr sz="1100" b="0">
                <a:solidFill>
                  <a:srgbClr val="5B6B7C"/>
                </a:solidFill>
                <a:latin typeface="Carlito"/>
              </a:rPr>
              <a:t>Confidential. Internal distribution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411480"/>
            <a:ext cx="10241280" cy="685800"/>
          </a:xfrm>
          <a:prstGeom prst="rect">
            <a:avLst/>
          </a:prstGeom>
          <a:noFill/>
        </p:spPr>
        <p:txBody>
          <a:bodyPr wrap="square">
            <a:spAutoFit/>
          </a:bodyPr>
          <a:lstStyle/>
          <a:p>
            <a:r>
              <a:rPr sz="3600" b="1">
                <a:solidFill>
                  <a:srgbClr val="1B1F24"/>
                </a:solidFill>
                <a:latin typeface="Carlito"/>
              </a:rPr>
              <a:t>Q3 results</a:t>
            </a:r>
          </a:p>
        </p:txBody>
      </p:sp>
      <p:sp>
        <p:nvSpPr>
          <p:cNvPr id="3" name="TextBox 2"/>
          <p:cNvSpPr txBox="1"/>
          <p:nvPr/>
        </p:nvSpPr>
        <p:spPr>
          <a:xfrm>
            <a:off x="975360" y="1303020"/>
            <a:ext cx="10241280" cy="5143500"/>
          </a:xfrm>
          <a:prstGeom prst="rect">
            <a:avLst/>
          </a:prstGeom>
          <a:noFill/>
        </p:spPr>
        <p:txBody>
          <a:bodyPr wrap="square">
            <a:spAutoFit/>
          </a:bodyPr>
          <a:lstStyle/>
          <a:p>
            <a:r>
              <a:rPr sz="2400" b="0">
                <a:solidFill>
                  <a:srgbClr val="9AA3AD"/>
                </a:solidFill>
                <a:latin typeface="Carlito"/>
              </a:rPr>
              <a:t>• Revenue up 14%</a:t>
            </a:r>
          </a:p>
          <a:p>
            <a:r>
              <a:rPr sz="2400" b="0">
                <a:solidFill>
                  <a:srgbClr val="9AA3AD"/>
                </a:solidFill>
                <a:latin typeface="Carlito"/>
              </a:rPr>
              <a:t>• Churn down to 3.1%</a:t>
            </a:r>
          </a:p>
          <a:p>
            <a:r>
              <a:rPr sz="2400" b="0">
                <a:solidFill>
                  <a:srgbClr val="9AA3AD"/>
                </a:solidFill>
                <a:latin typeface="Carlito"/>
              </a:rPr>
              <a:t>• NPS at 48</a:t>
            </a:r>
          </a:p>
          <a:p>
            <a:r>
              <a:rPr sz="2400" b="0">
                <a:solidFill>
                  <a:srgbClr val="9AA3AD"/>
                </a:solidFill>
                <a:latin typeface="Carlito"/>
              </a:rPr>
              <a:t>• Two new regions live</a:t>
            </a:r>
          </a:p>
          <a:p>
            <a:r>
              <a:rPr sz="2400" b="0">
                <a:solidFill>
                  <a:srgbClr val="9AA3AD"/>
                </a:solidFill>
                <a:latin typeface="Carlito"/>
              </a:rPr>
              <a:t>• Field app 4.2 shipped</a:t>
            </a:r>
          </a:p>
          <a:p>
            <a:r>
              <a:rPr sz="2400" b="0">
                <a:solidFill>
                  <a:srgbClr val="9AA3AD"/>
                </a:solidFill>
                <a:latin typeface="Carlito"/>
              </a:rPr>
              <a:t>• Support tickets down 22%</a:t>
            </a:r>
          </a:p>
          <a:p>
            <a:r>
              <a:rPr sz="2400" b="0">
                <a:solidFill>
                  <a:srgbClr val="9AA3AD"/>
                </a:solidFill>
                <a:latin typeface="Carlito"/>
              </a:rPr>
              <a:t>• Hiring at 92% of plan</a:t>
            </a:r>
          </a:p>
          <a:p>
            <a:r>
              <a:rPr sz="2400" b="0">
                <a:solidFill>
                  <a:srgbClr val="9AA3AD"/>
                </a:solidFill>
                <a:latin typeface="Carlito"/>
              </a:rPr>
              <a:t>• Cloud cost flat</a:t>
            </a:r>
          </a:p>
          <a:p>
            <a:r>
              <a:rPr sz="2400" b="0">
                <a:solidFill>
                  <a:srgbClr val="9AA3AD"/>
                </a:solidFill>
                <a:latin typeface="Carlito"/>
              </a:rPr>
              <a:t>• Pilot in Brazil</a:t>
            </a:r>
          </a:p>
          <a:p>
            <a:r>
              <a:rPr sz="2400" b="0">
                <a:solidFill>
                  <a:srgbClr val="9AA3AD"/>
                </a:solidFill>
                <a:latin typeface="Carlito"/>
              </a:rPr>
              <a:t>• Security audit passed</a:t>
            </a:r>
          </a:p>
          <a:p>
            <a:r>
              <a:rPr sz="2400" b="0">
                <a:solidFill>
                  <a:srgbClr val="9AA3AD"/>
                </a:solidFill>
                <a:latin typeface="Carlito"/>
              </a:rPr>
              <a:t>• Board review Nov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975360" y="411480"/>
            <a:ext cx="10241280" cy="685800"/>
          </a:xfrm>
          <a:prstGeom prst="rect">
            <a:avLst/>
          </a:prstGeom>
          <a:noFill/>
        </p:spPr>
        <p:txBody>
          <a:bodyPr wrap="square">
            <a:spAutoFit/>
          </a:bodyPr>
          <a:lstStyle/>
          <a:p>
            <a:r>
              <a:rPr sz="3600" b="1">
                <a:solidFill>
                  <a:srgbClr val="1B1F24"/>
                </a:solidFill>
                <a:latin typeface="Carlito"/>
              </a:rPr>
              <a:t>Rollout by region</a:t>
            </a:r>
          </a:p>
        </p:txBody>
      </p:sp>
      <p:sp>
        <p:nvSpPr>
          <p:cNvPr id="3" name="TextBox 2"/>
          <p:cNvSpPr txBox="1"/>
          <p:nvPr/>
        </p:nvSpPr>
        <p:spPr>
          <a:xfrm>
            <a:off x="6096000" y="1165860"/>
            <a:ext cx="5120640" cy="342900"/>
          </a:xfrm>
          <a:prstGeom prst="rect">
            <a:avLst/>
          </a:prstGeom>
          <a:noFill/>
        </p:spPr>
        <p:txBody>
          <a:bodyPr wrap="square">
            <a:spAutoFit/>
          </a:bodyPr>
          <a:lstStyle/>
          <a:p>
            <a:r>
              <a:rPr sz="1200" b="0">
                <a:solidFill>
                  <a:srgbClr val="5D6577"/>
                </a:solidFill>
                <a:latin typeface="Carlito"/>
              </a:rPr>
              <a:t>Red: behind plan    Green: on track</a:t>
            </a:r>
          </a:p>
        </p:txBody>
      </p:sp>
      <p:sp>
        <p:nvSpPr>
          <p:cNvPr id="4" name="Rectangle 3"/>
          <p:cNvSpPr/>
          <p:nvPr/>
        </p:nvSpPr>
        <p:spPr>
          <a:xfrm>
            <a:off x="1219200" y="4334256"/>
            <a:ext cx="1300480" cy="115214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909824" y="3796588"/>
            <a:ext cx="1300480" cy="1689811"/>
          </a:xfrm>
          <a:prstGeom prst="rect">
            <a:avLst/>
          </a:prstGeom>
          <a:solidFill>
            <a:srgbClr val="D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00448" y="3489350"/>
            <a:ext cx="1300480" cy="1997049"/>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91072" y="3143707"/>
            <a:ext cx="1300480" cy="2342692"/>
          </a:xfrm>
          <a:prstGeom prst="rect">
            <a:avLst/>
          </a:prstGeom>
          <a:solidFill>
            <a:srgbClr val="D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81695" y="2490825"/>
            <a:ext cx="1300480" cy="299557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72320" y="1953158"/>
            <a:ext cx="1300480" cy="3533241"/>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9200" y="5623560"/>
            <a:ext cx="9753600" cy="342900"/>
          </a:xfrm>
          <a:prstGeom prst="rect">
            <a:avLst/>
          </a:prstGeom>
          <a:noFill/>
        </p:spPr>
        <p:txBody>
          <a:bodyPr wrap="square">
            <a:spAutoFit/>
          </a:bodyPr>
          <a:lstStyle/>
          <a:p>
            <a:r>
              <a:rPr sz="1100" b="0">
                <a:solidFill>
                  <a:srgbClr val="6B7480"/>
                </a:solidFill>
                <a:latin typeface="Carlito"/>
              </a:rPr>
              <a:t>North      South      East       West      Central     Coast</a:t>
            </a:r>
          </a:p>
        </p:txBody>
      </p:sp>
      <p:sp>
        <p:nvSpPr>
          <p:cNvPr id="11" name="TextBox 10"/>
          <p:cNvSpPr txBox="1"/>
          <p:nvPr/>
        </p:nvSpPr>
        <p:spPr>
          <a:xfrm>
            <a:off x="975360" y="6172200"/>
            <a:ext cx="10241280" cy="411480"/>
          </a:xfrm>
          <a:prstGeom prst="rect">
            <a:avLst/>
          </a:prstGeom>
          <a:noFill/>
        </p:spPr>
        <p:txBody>
          <a:bodyPr wrap="square">
            <a:spAutoFit/>
          </a:bodyPr>
          <a:lstStyle/>
          <a:p>
            <a:r>
              <a:rPr sz="1000" b="0">
                <a:solidFill>
                  <a:srgbClr val="6B7480"/>
                </a:solidFill>
                <a:latin typeface="Carlito"/>
              </a:rPr>
              <a:t>Source: regional ops dashboard, data as of Sept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2057400"/>
            <a:ext cx="10241280" cy="960120"/>
          </a:xfrm>
          <a:prstGeom prst="rect">
            <a:avLst/>
          </a:prstGeom>
          <a:noFill/>
        </p:spPr>
        <p:txBody>
          <a:bodyPr wrap="square">
            <a:spAutoFit/>
          </a:bodyPr>
          <a:lstStyle/>
          <a:p>
            <a:r>
              <a:rPr sz="4000" b="1">
                <a:solidFill>
                  <a:srgbClr val="F2D675"/>
                </a:solidFill>
                <a:latin typeface="Carlito"/>
              </a:rPr>
              <a:t>Faster answers, every time</a:t>
            </a:r>
          </a:p>
        </p:txBody>
      </p:sp>
      <p:sp>
        <p:nvSpPr>
          <p:cNvPr id="3" name="TextBox 2"/>
          <p:cNvSpPr txBox="1"/>
          <p:nvPr/>
        </p:nvSpPr>
        <p:spPr>
          <a:xfrm>
            <a:off x="975360" y="3291840"/>
            <a:ext cx="10241280" cy="548640"/>
          </a:xfrm>
          <a:prstGeom prst="rect">
            <a:avLst/>
          </a:prstGeom>
          <a:noFill/>
        </p:spPr>
        <p:txBody>
          <a:bodyPr wrap="square">
            <a:spAutoFit/>
          </a:bodyPr>
          <a:lstStyle/>
          <a:p>
            <a:r>
              <a:rPr sz="2400" b="0">
                <a:solidFill>
                  <a:srgbClr val="B9C4CF"/>
                </a:solidFill>
                <a:latin typeface="Carlito"/>
              </a:rPr>
              <a:t>Median response time fell from 9 minutes to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411480"/>
            <a:ext cx="10241280" cy="685800"/>
          </a:xfrm>
          <a:prstGeom prst="rect">
            <a:avLst/>
          </a:prstGeom>
          <a:noFill/>
        </p:spPr>
        <p:txBody>
          <a:bodyPr wrap="square">
            <a:spAutoFit/>
          </a:bodyPr>
          <a:lstStyle/>
          <a:p>
            <a:r>
              <a:rPr sz="3600" b="1">
                <a:solidFill>
                  <a:srgbClr val="1B1F24"/>
                </a:solidFill>
                <a:latin typeface="Carlito"/>
              </a:rPr>
              <a:t>Why we changed</a:t>
            </a:r>
          </a:p>
        </p:txBody>
      </p:sp>
      <p:sp>
        <p:nvSpPr>
          <p:cNvPr id="3" name="TextBox 2"/>
          <p:cNvSpPr txBox="1"/>
          <p:nvPr/>
        </p:nvSpPr>
        <p:spPr>
          <a:xfrm>
            <a:off x="975360" y="1371600"/>
            <a:ext cx="10241280" cy="4114800"/>
          </a:xfrm>
          <a:prstGeom prst="rect">
            <a:avLst/>
          </a:prstGeom>
          <a:noFill/>
        </p:spPr>
        <p:txBody>
          <a:bodyPr wrap="square">
            <a:spAutoFit/>
          </a:bodyPr>
          <a:lstStyle/>
          <a:p>
            <a:r>
              <a:rPr sz="1800" b="0">
                <a:solidFill>
                  <a:srgbClr val="2B3138"/>
                </a:solidFill>
                <a:latin typeface="Carlito"/>
              </a:rPr>
              <a:t>Over the last two years our dispatch system was built for a much smaller business, and as we added regions it could not keep up with the volume of jobs coming in each morning. Crews waited an average of forty minutes for their first assignment, supervisors rebuilt schedules by hand, and customers called back to ask when someone would arrive. The new platform routes every job in seconds and shows crews their whole day before they leave the yard.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411480"/>
            <a:ext cx="10241280" cy="685800"/>
          </a:xfrm>
          <a:prstGeom prst="rect">
            <a:avLst/>
          </a:prstGeom>
          <a:noFill/>
        </p:spPr>
        <p:txBody>
          <a:bodyPr wrap="square">
            <a:spAutoFit/>
          </a:bodyPr>
          <a:lstStyle/>
          <a:p>
            <a:r>
              <a:rPr sz="3600" b="1">
                <a:solidFill>
                  <a:srgbClr val="1B1F24"/>
                </a:solidFill>
                <a:latin typeface="Carlito"/>
              </a:rPr>
              <a:t>Join the pilot</a:t>
            </a:r>
          </a:p>
        </p:txBody>
      </p:sp>
      <p:sp>
        <p:nvSpPr>
          <p:cNvPr id="3" name="Rectangle 2"/>
          <p:cNvSpPr/>
          <p:nvPr/>
        </p:nvSpPr>
        <p:spPr>
          <a:xfrm>
            <a:off x="916838" y="1450238"/>
            <a:ext cx="1580083" cy="158008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75360"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33881"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2403"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50924"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09446"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67968"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26489"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502054"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19097"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28748"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87270"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45792"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04313"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62835"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21356"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79878" y="150876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5360"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26489"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02054"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77619"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736140"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94662"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11705"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28748"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79878" y="156728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5360"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92403"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50924"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09446"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326489"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385011"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77619"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794662"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53184"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970227"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028748"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145792"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204313"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262835"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9878" y="162580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5360"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403"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50924"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209446"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26489"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560576"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736140"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911705"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970227"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028748"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45792"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204313"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62835"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379878" y="168432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75360"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92403"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150924"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209446"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326489"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443532"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502054"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560576"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619097"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736140"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911705"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028748"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145792"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204313"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262835"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379878" y="174284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75360"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326489"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502054"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560576"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619097"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677619"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794662"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853184"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911705"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028748"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379878" y="180136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75360"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33881"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92403"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150924"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209446"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267968"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326489"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385011"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443532"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560576"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677619"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736140"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794662"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853184"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028748"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087270"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145792"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204313"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262835"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2321356"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2379878" y="185988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75360"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326489"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60576"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736140"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794662"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853184"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911705"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2145792"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2204313" y="191841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92403"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385011"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443532"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502054"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619097"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677619"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794662"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853184"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911705"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970227"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2204313" y="197693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443532" y="203545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502054" y="203545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853184" y="203545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911705" y="203545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321356" y="203545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33881"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92403"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209446"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326489"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385011"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443532"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502054"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736140"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794662"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853184"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2028748"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2087270"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2145792"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2204313"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2262835"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2321356" y="209397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326489"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385011"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502054"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560576"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619097"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970227"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2028748"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2087270"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2204313"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2262835"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2379878" y="215249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75360"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33881"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92403"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267968"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385011"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443532"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619097"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677619"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911705"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970227"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2087270"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2145792"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2204313"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2321356" y="2211019"/>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033881"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092403"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150924"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209446"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1326489"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385011"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677619"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911705"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2087270"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2145792"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2262835"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2379878" y="226954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75360"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267968"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443532"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502054"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677619"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736140"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853184"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2028748"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2145792"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2204313"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2262835"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2379878" y="2328062"/>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092403"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209446"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326489"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1385011"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1443532"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502054"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619097"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677619"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1736140"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145792"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2204313"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2262835"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2379878" y="2386584"/>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975360"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092403"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150924"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267968"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443532"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502054"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911705"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2028748"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2262835" y="244510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975360"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033881"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092403"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1326489"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560576"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619097"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794662"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853184"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911705"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2087270"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2262835"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2321356"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2379878" y="2503627"/>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75360"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033881"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1092403"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1150924"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209446"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267968"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326489"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443532"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560576"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736140"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794662"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970227" y="256214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75360"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326489"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385011"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1853184"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1911705"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2087270"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2204313"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2379878" y="2620670"/>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75360"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092403"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150924"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209446"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1326489"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502054"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560576"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1677619"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1736140"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1794662"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2145792"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2379878" y="2679191"/>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75360"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92403"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150924"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209446"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1326489"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385011"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443532"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911705"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970227"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2028748"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2145792" y="2737713"/>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975360"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2403"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50924"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209446"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326489"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2087270"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2145792"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2204313"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2262835"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2321356"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2379878" y="2796235"/>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975360"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326489"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1502054"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619097"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677619"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794662"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853184"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911705"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970227"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2028748"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2145792"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2262835"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2321356"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2379878" y="2854756"/>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975360"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1033881"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092403"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1150924"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1209446"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1267968"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326489"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385011"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443532"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502054"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560576"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911705"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970227"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2028748"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2087270"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2145792"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2321356"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2379878" y="2913278"/>
            <a:ext cx="58521" cy="58521"/>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975360" y="3771900"/>
            <a:ext cx="10241280" cy="411480"/>
          </a:xfrm>
          <a:prstGeom prst="rect">
            <a:avLst/>
          </a:prstGeom>
          <a:noFill/>
        </p:spPr>
        <p:txBody>
          <a:bodyPr wrap="square">
            <a:spAutoFit/>
          </a:bodyPr>
          <a:lstStyle/>
          <a:p>
            <a:r>
              <a:rPr sz="1800" b="0">
                <a:solidFill>
                  <a:srgbClr val="2C4F86"/>
                </a:solidFill>
                <a:latin typeface="Carlito"/>
              </a:rPr>
              <a:t>https://intranet.example.com/field-ops/pilot/signup?region=all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411480"/>
            <a:ext cx="10241280" cy="685800"/>
          </a:xfrm>
          <a:prstGeom prst="rect">
            <a:avLst/>
          </a:prstGeom>
          <a:noFill/>
        </p:spPr>
        <p:txBody>
          <a:bodyPr wrap="square">
            <a:spAutoFit/>
          </a:bodyPr>
          <a:lstStyle/>
          <a:p>
            <a:r>
              <a:rPr sz="3600" b="1">
                <a:solidFill>
                  <a:srgbClr val="1B1F24"/>
                </a:solidFill>
                <a:latin typeface="Carlito"/>
              </a:rPr>
              <a:t>Pilot findings</a:t>
            </a:r>
          </a:p>
        </p:txBody>
      </p:sp>
      <p:sp>
        <p:nvSpPr>
          <p:cNvPr id="3" name="TextBox 2"/>
          <p:cNvSpPr txBox="1"/>
          <p:nvPr/>
        </p:nvSpPr>
        <p:spPr>
          <a:xfrm>
            <a:off x="975360" y="1645920"/>
            <a:ext cx="10241280" cy="2057400"/>
          </a:xfrm>
          <a:prstGeom prst="rect">
            <a:avLst/>
          </a:prstGeom>
          <a:noFill/>
        </p:spPr>
        <p:txBody>
          <a:bodyPr wrap="square">
            <a:spAutoFit/>
          </a:bodyPr>
          <a:lstStyle/>
          <a:p>
            <a:r>
              <a:rPr sz="2400" b="0">
                <a:solidFill>
                  <a:srgbClr val="333333"/>
                </a:solidFill>
                <a:latin typeface="Carlito"/>
              </a:rPr>
              <a:t>• Dispatch time down 31%</a:t>
            </a:r>
          </a:p>
          <a:p>
            <a:r>
              <a:rPr sz="2400" b="0">
                <a:solidFill>
                  <a:srgbClr val="333333"/>
                </a:solidFill>
                <a:latin typeface="Carlito"/>
              </a:rPr>
              <a:t>• Crews closed 2 more jobs a day</a:t>
            </a:r>
          </a:p>
          <a:p>
            <a:r>
              <a:rPr sz="2400" b="0">
                <a:solidFill>
                  <a:srgbClr val="333333"/>
                </a:solidFill>
                <a:latin typeface="Carlito"/>
              </a:rPr>
              <a:t>• No rise in safety incidents</a:t>
            </a:r>
          </a:p>
        </p:txBody>
      </p:sp>
      <p:sp>
        <p:nvSpPr>
          <p:cNvPr id="4" name="TextBox 3"/>
          <p:cNvSpPr txBox="1"/>
          <p:nvPr/>
        </p:nvSpPr>
        <p:spPr>
          <a:xfrm>
            <a:off x="975360" y="5897880"/>
            <a:ext cx="10241280" cy="480060"/>
          </a:xfrm>
          <a:prstGeom prst="rect">
            <a:avLst/>
          </a:prstGeom>
          <a:noFill/>
        </p:spPr>
        <p:txBody>
          <a:bodyPr wrap="square">
            <a:spAutoFit/>
          </a:bodyPr>
          <a:lstStyle/>
          <a:p>
            <a:r>
              <a:rPr sz="2000" b="1">
                <a:solidFill>
                  <a:srgbClr val="1B1F24"/>
                </a:solidFill>
                <a:latin typeface="Carlito"/>
              </a:rPr>
              <a:t>Bottom line: ship to all regions in Q1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75360" y="2331720"/>
            <a:ext cx="10241280" cy="1097280"/>
          </a:xfrm>
          <a:prstGeom prst="rect">
            <a:avLst/>
          </a:prstGeom>
          <a:noFill/>
        </p:spPr>
        <p:txBody>
          <a:bodyPr wrap="square">
            <a:spAutoFit/>
          </a:bodyPr>
          <a:lstStyle/>
          <a:p>
            <a:r>
              <a:rPr sz="5400" b="1">
                <a:solidFill>
                  <a:srgbClr val="1B1F24"/>
                </a:solidFill>
                <a:latin typeface="Carlito"/>
              </a:rPr>
              <a:t>Questions</a:t>
            </a:r>
          </a:p>
        </p:txBody>
      </p:sp>
      <p:sp>
        <p:nvSpPr>
          <p:cNvPr id="3" name="TextBox 2"/>
          <p:cNvSpPr txBox="1"/>
          <p:nvPr/>
        </p:nvSpPr>
        <p:spPr>
          <a:xfrm>
            <a:off x="975360" y="3703320"/>
            <a:ext cx="10241280" cy="548640"/>
          </a:xfrm>
          <a:prstGeom prst="rect">
            <a:avLst/>
          </a:prstGeom>
          <a:noFill/>
        </p:spPr>
        <p:txBody>
          <a:bodyPr wrap="square">
            <a:spAutoFit/>
          </a:bodyPr>
          <a:lstStyle/>
          <a:p>
            <a:r>
              <a:rPr sz="2800" b="0">
                <a:solidFill>
                  <a:srgbClr val="2B3138"/>
                </a:solidFill>
                <a:latin typeface="Carlito"/>
              </a:rPr>
              <a:t>Slides and data: go/fieldops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usy-background.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5360" y="2606040"/>
            <a:ext cx="10241280" cy="960120"/>
          </a:xfrm>
          <a:prstGeom prst="rect">
            <a:avLst/>
          </a:prstGeom>
          <a:noFill/>
        </p:spPr>
        <p:txBody>
          <a:bodyPr wrap="square">
            <a:spAutoFit/>
          </a:bodyPr>
          <a:lstStyle/>
          <a:p>
            <a:r>
              <a:rPr sz="4000" b="1">
                <a:solidFill>
                  <a:srgbClr val="FFFFFF"/>
                </a:solidFill>
                <a:latin typeface="Carlito"/>
              </a:rPr>
              <a:t>Meet the crews behind the numbers</a:t>
            </a:r>
          </a:p>
        </p:txBody>
      </p:sp>
      <p:sp>
        <p:nvSpPr>
          <p:cNvPr id="4" name="TextBox 3"/>
          <p:cNvSpPr txBox="1"/>
          <p:nvPr/>
        </p:nvSpPr>
        <p:spPr>
          <a:xfrm>
            <a:off x="975360" y="3703320"/>
            <a:ext cx="10241280" cy="548640"/>
          </a:xfrm>
          <a:prstGeom prst="rect">
            <a:avLst/>
          </a:prstGeom>
          <a:noFill/>
        </p:spPr>
        <p:txBody>
          <a:bodyPr wrap="square">
            <a:spAutoFit/>
          </a:bodyPr>
          <a:lstStyle/>
          <a:p>
            <a:r>
              <a:rPr sz="2400" b="0">
                <a:solidFill>
                  <a:srgbClr val="F4F5F7"/>
                </a:solidFill>
                <a:latin typeface="Carlito"/>
              </a:rPr>
              <a:t>North and Coast regions, spring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274320"/>
            <a:ext cx="10972800" cy="548640"/>
          </a:xfrm>
          <a:prstGeom prst="rect">
            <a:avLst/>
          </a:prstGeom>
          <a:noFill/>
        </p:spPr>
        <p:txBody>
          <a:bodyPr wrap="square">
            <a:spAutoFit/>
          </a:bodyPr>
          <a:lstStyle/>
          <a:p>
            <a:r>
              <a:rPr sz="3200" b="1">
                <a:solidFill>
                  <a:srgbClr val="1B1F24"/>
                </a:solidFill>
                <a:latin typeface="Carlito"/>
              </a:rPr>
              <a:t>System overview</a:t>
            </a:r>
          </a:p>
        </p:txBody>
      </p:sp>
      <p:sp>
        <p:nvSpPr>
          <p:cNvPr id="3" name="Rounded Rectangle 2"/>
          <p:cNvSpPr/>
          <p:nvPr/>
        </p:nvSpPr>
        <p:spPr>
          <a:xfrm>
            <a:off x="609600" y="123444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Mobile app</a:t>
            </a:r>
          </a:p>
        </p:txBody>
      </p:sp>
      <p:sp>
        <p:nvSpPr>
          <p:cNvPr id="4" name="Rounded Rectangle 3"/>
          <p:cNvSpPr/>
          <p:nvPr/>
        </p:nvSpPr>
        <p:spPr>
          <a:xfrm>
            <a:off x="2865120" y="123444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Web portal</a:t>
            </a:r>
          </a:p>
        </p:txBody>
      </p:sp>
      <p:sp>
        <p:nvSpPr>
          <p:cNvPr id="5" name="Rounded Rectangle 4"/>
          <p:cNvSpPr/>
          <p:nvPr/>
        </p:nvSpPr>
        <p:spPr>
          <a:xfrm>
            <a:off x="5120640" y="123444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API gateway</a:t>
            </a:r>
          </a:p>
        </p:txBody>
      </p:sp>
      <p:sp>
        <p:nvSpPr>
          <p:cNvPr id="6" name="Rounded Rectangle 5"/>
          <p:cNvSpPr/>
          <p:nvPr/>
        </p:nvSpPr>
        <p:spPr>
          <a:xfrm>
            <a:off x="7376160" y="123444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Auth</a:t>
            </a:r>
          </a:p>
        </p:txBody>
      </p:sp>
      <p:sp>
        <p:nvSpPr>
          <p:cNvPr id="7" name="Rounded Rectangle 6"/>
          <p:cNvSpPr/>
          <p:nvPr/>
        </p:nvSpPr>
        <p:spPr>
          <a:xfrm>
            <a:off x="9631680" y="123444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Dispatch</a:t>
            </a:r>
          </a:p>
        </p:txBody>
      </p:sp>
      <p:sp>
        <p:nvSpPr>
          <p:cNvPr id="8" name="Rounded Rectangle 7"/>
          <p:cNvSpPr/>
          <p:nvPr/>
        </p:nvSpPr>
        <p:spPr>
          <a:xfrm>
            <a:off x="609600" y="301752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Routing</a:t>
            </a:r>
          </a:p>
        </p:txBody>
      </p:sp>
      <p:sp>
        <p:nvSpPr>
          <p:cNvPr id="9" name="Rounded Rectangle 8"/>
          <p:cNvSpPr/>
          <p:nvPr/>
        </p:nvSpPr>
        <p:spPr>
          <a:xfrm>
            <a:off x="2865120" y="301752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Scheduler</a:t>
            </a:r>
          </a:p>
        </p:txBody>
      </p:sp>
      <p:sp>
        <p:nvSpPr>
          <p:cNvPr id="10" name="Rounded Rectangle 9"/>
          <p:cNvSpPr/>
          <p:nvPr/>
        </p:nvSpPr>
        <p:spPr>
          <a:xfrm>
            <a:off x="5120640" y="301752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Billing</a:t>
            </a:r>
          </a:p>
        </p:txBody>
      </p:sp>
      <p:sp>
        <p:nvSpPr>
          <p:cNvPr id="11" name="Rounded Rectangle 10"/>
          <p:cNvSpPr/>
          <p:nvPr/>
        </p:nvSpPr>
        <p:spPr>
          <a:xfrm>
            <a:off x="7376160" y="301752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Inventory</a:t>
            </a:r>
          </a:p>
        </p:txBody>
      </p:sp>
      <p:sp>
        <p:nvSpPr>
          <p:cNvPr id="12" name="Rounded Rectangle 11"/>
          <p:cNvSpPr/>
          <p:nvPr/>
        </p:nvSpPr>
        <p:spPr>
          <a:xfrm>
            <a:off x="9631680" y="301752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Notifications</a:t>
            </a:r>
          </a:p>
        </p:txBody>
      </p:sp>
      <p:sp>
        <p:nvSpPr>
          <p:cNvPr id="13" name="Rounded Rectangle 12"/>
          <p:cNvSpPr/>
          <p:nvPr/>
        </p:nvSpPr>
        <p:spPr>
          <a:xfrm>
            <a:off x="609600" y="480060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Data lake</a:t>
            </a:r>
          </a:p>
        </p:txBody>
      </p:sp>
      <p:sp>
        <p:nvSpPr>
          <p:cNvPr id="14" name="Rounded Rectangle 13"/>
          <p:cNvSpPr/>
          <p:nvPr/>
        </p:nvSpPr>
        <p:spPr>
          <a:xfrm>
            <a:off x="2865120" y="480060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Reports</a:t>
            </a:r>
          </a:p>
        </p:txBody>
      </p:sp>
      <p:sp>
        <p:nvSpPr>
          <p:cNvPr id="15" name="Rounded Rectangle 14"/>
          <p:cNvSpPr/>
          <p:nvPr/>
        </p:nvSpPr>
        <p:spPr>
          <a:xfrm>
            <a:off x="5120640" y="480060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CRM sync</a:t>
            </a:r>
          </a:p>
        </p:txBody>
      </p:sp>
      <p:sp>
        <p:nvSpPr>
          <p:cNvPr id="16" name="Rounded Rectangle 15"/>
          <p:cNvSpPr/>
          <p:nvPr/>
        </p:nvSpPr>
        <p:spPr>
          <a:xfrm>
            <a:off x="7376160" y="4800600"/>
            <a:ext cx="1706880" cy="685800"/>
          </a:xfrm>
          <a:prstGeom prst="roundRect">
            <a:avLst/>
          </a:prstGeom>
          <a:solidFill>
            <a:srgbClr val="EEF1F6"/>
          </a:solidFill>
          <a:ln w="6350">
            <a:solidFill>
              <a:srgbClr val="9AA3AD"/>
            </a:solidFill>
          </a:ln>
        </p:spPr>
        <p:style>
          <a:lnRef idx="1">
            <a:schemeClr val="accent1"/>
          </a:lnRef>
          <a:fillRef idx="3">
            <a:schemeClr val="accent1"/>
          </a:fillRef>
          <a:effectRef idx="2">
            <a:schemeClr val="accent1"/>
          </a:effectRef>
          <a:fontRef idx="minor">
            <a:schemeClr val="lt1"/>
          </a:fontRef>
        </p:style>
        <p:txBody>
          <a:bodyPr rtlCol="0" anchor="ctr"/>
          <a:lstStyle/>
          <a:p>
            <a:r>
              <a:rPr sz="1000">
                <a:solidFill>
                  <a:srgbClr val="3A4252"/>
                </a:solidFill>
              </a:rPr>
              <a:t>Partner feed</a:t>
            </a:r>
          </a:p>
        </p:txBody>
      </p:sp>
      <p:cxnSp>
        <p:nvCxnSpPr>
          <p:cNvPr id="17" name="Connector 16"/>
          <p:cNvCxnSpPr/>
          <p:nvPr/>
        </p:nvCxnSpPr>
        <p:spPr>
          <a:xfrm flipV="1">
            <a:off x="10485120" y="1577339"/>
            <a:ext cx="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1463040" y="3360420"/>
            <a:ext cx="2255520" cy="178308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718560" y="5143500"/>
            <a:ext cx="225552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3718560" y="5143500"/>
            <a:ext cx="451104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63040" y="3360420"/>
            <a:ext cx="6766560" cy="178308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63040" y="1577339"/>
            <a:ext cx="451104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974080" y="1577339"/>
            <a:ext cx="2255520" cy="356616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463040" y="1577339"/>
            <a:ext cx="0" cy="356616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718560" y="1577339"/>
            <a:ext cx="225552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63040" y="3360420"/>
            <a:ext cx="451104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229600" y="1577339"/>
            <a:ext cx="0" cy="356616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18560" y="3360420"/>
            <a:ext cx="451104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718560" y="1577339"/>
            <a:ext cx="676656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463040" y="1577339"/>
            <a:ext cx="676656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18560" y="1577339"/>
            <a:ext cx="4511040" cy="356616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718560" y="1577339"/>
            <a:ext cx="676656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74080" y="1577339"/>
            <a:ext cx="0" cy="356616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718560" y="1577339"/>
            <a:ext cx="225552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974080" y="5143500"/>
            <a:ext cx="225552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718560" y="1577339"/>
            <a:ext cx="2255520" cy="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229600" y="3360420"/>
            <a:ext cx="2255520" cy="1783080"/>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974080" y="1577339"/>
            <a:ext cx="0" cy="1783081"/>
          </a:xfrm>
          <a:prstGeom prst="line">
            <a:avLst/>
          </a:prstGeom>
          <a:ln w="6350">
            <a:solidFill>
              <a:srgbClr val="9AA3A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